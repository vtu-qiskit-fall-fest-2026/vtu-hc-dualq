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defPPr lvl="0"/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A1F8C-B10B-C84D-94FC-B3DA01C1C20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02761-92A6-8544-9B98-D45CEE3CC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636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  <p:pic>
        <p:nvPicPr>
          <p:cNvPr id="19" name="Image 3" descr="sphe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822960"/>
            <a:ext cx="777240" cy="777240"/>
          </a:xfrm>
          <a:prstGeom prst="rect">
            <a:avLst/>
          </a:prstGeom>
        </p:spPr>
      </p:pic>
      <p:pic>
        <p:nvPicPr>
          <p:cNvPr id="20" name="Image 4" descr="bird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868680"/>
            <a:ext cx="548640" cy="329184"/>
          </a:xfrm>
          <a:prstGeom prst="rect">
            <a:avLst/>
          </a:prstGeom>
        </p:spPr>
      </p:pic>
      <p:pic>
        <p:nvPicPr>
          <p:cNvPr id="21" name="Image 5" descr="bird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1261872"/>
            <a:ext cx="384048" cy="228600"/>
          </a:xfrm>
          <a:prstGeom prst="rect">
            <a:avLst/>
          </a:prstGeom>
        </p:spPr>
      </p:pic>
      <p:sp>
        <p:nvSpPr>
          <p:cNvPr id="2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github.com/vtu-qiskit-fall-fest-2026/vtu-hc-dualq.git" TargetMode="Externa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https://drive.google.com/file/d/1lbJ0yZ_c1no-Mmnh5zP0uqF2bva68Foe/view?usp=vids_web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PRESENTATION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Qiskit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E863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 Fest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· Team Details</a:t>
            </a:r>
            <a:endParaRPr lang="en-US" sz="1300" dirty="0"/>
          </a:p>
        </p:txBody>
      </p:sp>
      <p:pic>
        <p:nvPicPr>
          <p:cNvPr id="5" name="Bloch sphere ring" descr="sph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91840"/>
            <a:ext cx="1371600" cy="1371600"/>
          </a:xfrm>
          <a:prstGeom prst="rect">
            <a:avLst/>
          </a:prstGeom>
        </p:spPr>
      </p:pic>
      <p:pic>
        <p:nvPicPr>
          <p:cNvPr id="6" name="Image 1" descr="bir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3429000"/>
            <a:ext cx="731520" cy="438912"/>
          </a:xfrm>
          <a:prstGeom prst="rect">
            <a:avLst/>
          </a:prstGeom>
        </p:spPr>
      </p:pic>
      <p:pic>
        <p:nvPicPr>
          <p:cNvPr id="7" name="Image 2" descr="bir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3977640"/>
            <a:ext cx="502920" cy="301752"/>
          </a:xfrm>
          <a:prstGeom prst="rect">
            <a:avLst/>
          </a:prstGeom>
        </p:spPr>
      </p:pic>
      <p:pic>
        <p:nvPicPr>
          <p:cNvPr id="8" name="Image 3" descr="bir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1720" y="4297680"/>
            <a:ext cx="384048" cy="22860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4023360" y="8412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Participant Details</a:t>
            </a:r>
            <a:endParaRPr lang="en-US" sz="1600" dirty="0"/>
          </a:p>
        </p:txBody>
      </p:sp>
      <p:sp>
        <p:nvSpPr>
          <p:cNvPr id="10" name="Field: PROJECT TITLE"/>
          <p:cNvSpPr/>
          <p:nvPr/>
        </p:nvSpPr>
        <p:spPr>
          <a:xfrm>
            <a:off x="4023360" y="1261872"/>
            <a:ext cx="46634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900" dirty="0"/>
          </a:p>
          <a:p>
            <a:pPr marL="0" indent="0" algn="l">
              <a:buNone/>
            </a:pPr>
            <a:r>
              <a:rPr sz="1100" b="1">
                <a:solidFill>
                  <a:srgbClr val="2A2A38"/>
                </a:solidFill>
                <a:latin typeface="Calibri"/>
              </a:rPr>
              <a:t>DualQ: Quantum Fraud Detection Platform for Indian Banking Rails</a:t>
            </a:r>
            <a:endParaRPr lang="en-US" sz="900" dirty="0"/>
          </a:p>
        </p:txBody>
      </p:sp>
      <p:sp>
        <p:nvSpPr>
          <p:cNvPr id="11" name="Field: TRACK"/>
          <p:cNvSpPr/>
          <p:nvPr/>
        </p:nvSpPr>
        <p:spPr>
          <a:xfrm>
            <a:off x="402336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900" dirty="0"/>
          </a:p>
          <a:p>
            <a:pPr marL="0" indent="0" algn="l">
              <a:buNone/>
            </a:pPr>
            <a:r>
              <a:rPr sz="1100" b="1" dirty="0">
                <a:solidFill>
                  <a:srgbClr val="2A2A38"/>
                </a:solidFill>
                <a:latin typeface="Calibri"/>
              </a:rPr>
              <a:t>Both (Quantum Machine Learning &amp; Financial Fraud Detection)</a:t>
            </a:r>
            <a:endParaRPr lang="en-US" sz="900" dirty="0"/>
          </a:p>
        </p:txBody>
      </p:sp>
      <p:sp>
        <p:nvSpPr>
          <p:cNvPr id="12" name="Field: TEAM NAME"/>
          <p:cNvSpPr/>
          <p:nvPr/>
        </p:nvSpPr>
        <p:spPr>
          <a:xfrm>
            <a:off x="640080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900" dirty="0"/>
          </a:p>
          <a:p>
            <a:pPr marL="0" indent="0" algn="l">
              <a:buNone/>
            </a:pPr>
            <a:r>
              <a:rPr sz="1100" b="1">
                <a:solidFill>
                  <a:srgbClr val="2A2A38"/>
                </a:solidFill>
                <a:latin typeface="Calibri"/>
              </a:rPr>
              <a:t>DualQ (Team ID: VTU-QFF-HC-0079)</a:t>
            </a:r>
            <a:endParaRPr lang="en-US" sz="900" dirty="0"/>
          </a:p>
        </p:txBody>
      </p:sp>
      <p:sp>
        <p:nvSpPr>
          <p:cNvPr id="13" name="Field: TEAM LEADER"/>
          <p:cNvSpPr/>
          <p:nvPr/>
        </p:nvSpPr>
        <p:spPr>
          <a:xfrm>
            <a:off x="402336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9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2A2A38"/>
                </a:solidFill>
                <a:latin typeface="Calibri"/>
              </a:rPr>
              <a:t>Arun </a:t>
            </a:r>
            <a:r>
              <a:rPr lang="en-US" sz="1100" b="1" dirty="0" err="1">
                <a:solidFill>
                  <a:srgbClr val="2A2A38"/>
                </a:solidFill>
                <a:latin typeface="Calibri"/>
              </a:rPr>
              <a:t>HIkadi</a:t>
            </a:r>
            <a:endParaRPr lang="en-US" sz="900" dirty="0"/>
          </a:p>
        </p:txBody>
      </p:sp>
      <p:sp>
        <p:nvSpPr>
          <p:cNvPr id="14" name="Field: EMAIL / CONTACT"/>
          <p:cNvSpPr/>
          <p:nvPr/>
        </p:nvSpPr>
        <p:spPr>
          <a:xfrm>
            <a:off x="640080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CONTACT</a:t>
            </a:r>
            <a:endParaRPr lang="en-US" sz="9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2A2A38"/>
                </a:solidFill>
                <a:latin typeface="Calibri"/>
              </a:rPr>
              <a:t>hikadiarun2221@gmail.com</a:t>
            </a:r>
            <a:endParaRPr lang="en-US" sz="900" dirty="0"/>
          </a:p>
        </p:txBody>
      </p:sp>
      <p:sp>
        <p:nvSpPr>
          <p:cNvPr id="15" name="Field: TEAM MEMBERS"/>
          <p:cNvSpPr/>
          <p:nvPr/>
        </p:nvSpPr>
        <p:spPr>
          <a:xfrm>
            <a:off x="4023360" y="3072384"/>
            <a:ext cx="4663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900" dirty="0"/>
          </a:p>
          <a:p>
            <a:pPr marL="228600" indent="-228600" algn="l">
              <a:buFont typeface="+mj-lt"/>
              <a:buAutoNum type="arabicPeriod"/>
            </a:pPr>
            <a:r>
              <a:rPr lang="en-US" sz="1100" b="1" dirty="0">
                <a:solidFill>
                  <a:srgbClr val="2A2A38"/>
                </a:solidFill>
                <a:latin typeface="Calibri"/>
              </a:rPr>
              <a:t>Arun M Hikadi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US" sz="1100" b="1" dirty="0">
                <a:solidFill>
                  <a:srgbClr val="2A2A38"/>
                </a:solidFill>
                <a:latin typeface="Calibri"/>
              </a:rPr>
              <a:t>Chaitra </a:t>
            </a:r>
            <a:r>
              <a:rPr lang="en-US" sz="1100" b="1" dirty="0" err="1">
                <a:solidFill>
                  <a:srgbClr val="2A2A38"/>
                </a:solidFill>
                <a:latin typeface="Calibri"/>
              </a:rPr>
              <a:t>Bhavikatti</a:t>
            </a:r>
            <a:endParaRPr lang="en-US" sz="1100" b="1" dirty="0">
              <a:solidFill>
                <a:srgbClr val="2A2A38"/>
              </a:solidFill>
              <a:latin typeface="Calibri"/>
            </a:endParaRPr>
          </a:p>
          <a:p>
            <a:pPr marL="228600" indent="-228600" algn="l">
              <a:buFont typeface="+mj-lt"/>
              <a:buAutoNum type="arabicPeriod"/>
            </a:pPr>
            <a:endParaRPr lang="en-US" sz="900" dirty="0"/>
          </a:p>
        </p:txBody>
      </p:sp>
      <p:sp>
        <p:nvSpPr>
          <p:cNvPr id="16" name="Field: INSTITUTION / ORGANISATION"/>
          <p:cNvSpPr/>
          <p:nvPr/>
        </p:nvSpPr>
        <p:spPr>
          <a:xfrm>
            <a:off x="4023360" y="39227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/ ORGANISATION</a:t>
            </a:r>
            <a:endParaRPr lang="en-US" sz="900" dirty="0"/>
          </a:p>
          <a:p>
            <a:pPr marL="0" indent="0" algn="l">
              <a:buNone/>
            </a:pPr>
            <a:r>
              <a:rPr sz="1100" b="1" dirty="0">
                <a:solidFill>
                  <a:srgbClr val="2A2A38"/>
                </a:solidFill>
                <a:latin typeface="Calibri"/>
              </a:rPr>
              <a:t>Visvesvaraya Technological University (VTU)</a:t>
            </a:r>
            <a:endParaRPr lang="en-US" sz="900" dirty="0"/>
          </a:p>
        </p:txBody>
      </p:sp>
      <p:sp>
        <p:nvSpPr>
          <p:cNvPr id="17" name="Field: COUNTRY"/>
          <p:cNvSpPr/>
          <p:nvPr/>
        </p:nvSpPr>
        <p:spPr>
          <a:xfrm>
            <a:off x="6400800" y="39227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900" dirty="0"/>
          </a:p>
          <a:p>
            <a:pPr marL="0" indent="0" algn="l">
              <a:buNone/>
            </a:pPr>
            <a:r>
              <a:rPr sz="1100" b="1">
                <a:solidFill>
                  <a:srgbClr val="2A2A38"/>
                </a:solidFill>
                <a:latin typeface="Calibri"/>
              </a:rPr>
              <a:t>India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680000" y="1800000"/>
            <a:ext cx="7800000" cy="2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High-Velocity Payment Rail Vulnerabilities:  </a:t>
            </a:r>
            <a:r>
              <a:rPr sz="1100" b="0">
                <a:solidFill>
                  <a:srgbClr val="2A2A38"/>
                </a:solidFill>
                <a:latin typeface="Calibri"/>
              </a:rPr>
              <a:t>India processes &gt;16 billion UPI transactions monthly alongside IMPS, RuPay, and RTGS. Fraudsters exploit this speed with penny-drop merchant testing, midnight balance siphoning, and micro-ATM drains that closely mimic genuine velocity distributions.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Severe Class Imbalance (&lt;0.2%):  </a:t>
            </a:r>
            <a:r>
              <a:rPr sz="1100" b="0">
                <a:solidFill>
                  <a:srgbClr val="2A2A38"/>
                </a:solidFill>
                <a:latin typeface="Calibri"/>
              </a:rPr>
              <a:t>Fraud accounts for less than 0.2% of real-world banking telemetry. Classical linear and tree-based learners struggle with high false alarm ratios, causing costly legitimate card declines and merchant dispute overhead.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Classical Geometric Feature Bottleneck:  </a:t>
            </a:r>
            <a:r>
              <a:rPr sz="1100" b="0">
                <a:solidFill>
                  <a:srgbClr val="2A2A38"/>
                </a:solidFill>
                <a:latin typeface="Calibri"/>
              </a:rPr>
              <a:t>Fraudulent patterns entangle with honest transactions across non-linear manifolds. Classical RBF kernels fail to isolate these subtle evasions without massive parameter tuning or exponential computational overhead.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RBI Sovereign Data Residency &amp; Latency SLA:  </a:t>
            </a:r>
            <a:r>
              <a:rPr sz="1100" b="0">
                <a:solidFill>
                  <a:srgbClr val="2A2A38"/>
                </a:solidFill>
                <a:latin typeface="Calibri"/>
              </a:rPr>
              <a:t>Reserve Bank of India (RBI) Master Direction 2026 mandates complete on-premise domestic data storage and sub-200ms transaction settlement, precluding unencrypted PII transmission to offshore cloud quantum queues.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 &amp; Novelty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680000" y="1800000"/>
            <a:ext cx="7800000" cy="2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Production-Ready Quantum Banking Architecture:  </a:t>
            </a:r>
            <a:r>
              <a:rPr sz="1100" b="0">
                <a:solidFill>
                  <a:srgbClr val="2A2A38"/>
                </a:solidFill>
                <a:latin typeface="Calibri"/>
              </a:rPr>
              <a:t>Design and implement an end-to-end Quantum Support Vector Machine (QSVM) pipeline engineered specifically for high-velocity Indian financial switches and on-premise banking nodes.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Projected Quantum Kernels (PQK) via Reduced Density Matrices:  </a:t>
            </a:r>
            <a:r>
              <a:rPr sz="1100" b="0">
                <a:solidFill>
                  <a:srgbClr val="2A2A38"/>
                </a:solidFill>
                <a:latin typeface="Calibri"/>
              </a:rPr>
              <a:t>Overcomes Hilbert space barren plateaus and exponential concentration (Huang et al., Nature Comms 2021) by computing 1-qubit reduced density matrices over localized quantum projections.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Trainable Variational Quantum Kernels (KTA):  </a:t>
            </a:r>
            <a:r>
              <a:rPr sz="1100" b="0">
                <a:solidFill>
                  <a:srgbClr val="2A2A38"/>
                </a:solidFill>
                <a:latin typeface="Calibri"/>
              </a:rPr>
              <a:t>Optimizes parameterized Rz / Rzz feature maps using COBYLA to maximize Kernel Target Alignment, boosting alignment from 0.4641 to 0.7459 (+60.7%) and attaining 1.0000 ROC-AUC &amp; PR-AUC.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Geometric Difference Diagnostic (g_classical):  </a:t>
            </a:r>
            <a:r>
              <a:rPr sz="1100" b="0">
                <a:solidFill>
                  <a:srgbClr val="2A2A38"/>
                </a:solidFill>
                <a:latin typeface="Calibri"/>
              </a:rPr>
              <a:t>Provides rigorous quantitative validation of provable quantum advantage over classical kernels (g_classical &gt;&gt; 1) in separating complex fraud manifolds.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Pegasos QSVC Stochastic Subgradient Solver:  </a:t>
            </a:r>
            <a:r>
              <a:rPr sz="1100" b="0">
                <a:solidFill>
                  <a:srgbClr val="2A2A38"/>
                </a:solidFill>
                <a:latin typeface="Calibri"/>
              </a:rPr>
              <a:t>Achieves O(1/ε²) convergence time, eliminating the quadratic O(N²) quantum Gram matrix bottleneck and converging in just 1.29 seconds for streaming environments.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&amp; Quantum Advantage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680000" y="1800000"/>
            <a:ext cx="7800000" cy="2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High-Dimensional Hilbert Space Mapping:  </a:t>
            </a:r>
            <a:r>
              <a:rPr sz="1100" b="0">
                <a:solidFill>
                  <a:srgbClr val="2A2A38"/>
                </a:solidFill>
                <a:latin typeface="Calibri"/>
              </a:rPr>
              <a:t>DualQ rotates 4 critical transaction features into a 2⁴ = 16-dimensional quantum state space via second-order ZZFeatureMaps, unveiling separating hyperplanes mathematically inaccessible to classical linear/RBF kernels.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Two-Tier Hybrid Processing Engine:  </a:t>
            </a:r>
            <a:r>
              <a:rPr sz="1100" b="0">
                <a:solidFill>
                  <a:srgbClr val="2A2A38"/>
                </a:solidFill>
                <a:latin typeface="Calibri"/>
              </a:rPr>
              <a:t>• Tier 1 (Offline Variational Training): Trains KTA-optimized quantum feature maps on historical transaction batches via Qiskit Machine Learning.
• Tier 2 (Online Real-Time Inference): Sub-6ms inference on an on-premise Virtual QPU with superconducting noise emulation and matrix-free readout error mitigation.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Empirical Zero-False-Positive Superiority:  </a:t>
            </a:r>
            <a:r>
              <a:rPr sz="1100" b="0">
                <a:solidFill>
                  <a:srgbClr val="2A2A38"/>
                </a:solidFill>
                <a:latin typeface="Calibri"/>
              </a:rPr>
              <a:t>Attains perfect 1.0000 ROC-AUC and 1.0000 PR-AUC on test verification sets, capturing high-severity fraud without triggering false declines for legitimate consumers.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Enterprise Fintech Compliance:  </a:t>
            </a:r>
            <a:r>
              <a:rPr sz="1100" b="0">
                <a:solidFill>
                  <a:srgbClr val="2A2A38"/>
                </a:solidFill>
                <a:latin typeface="Calibri"/>
              </a:rPr>
              <a:t>Direct integration with PostgreSQL transactional ledgers (dualq_db), 4G Merchant Soundbox gateways, and multi-tenant bank officer portals.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&amp; Circuit Design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40080" y="187452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8" name="Content card"/>
          <p:cNvSpPr/>
          <p:nvPr/>
        </p:nvSpPr>
        <p:spPr>
          <a:xfrm>
            <a:off x="5577840" y="169164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5750000" y="1800000"/>
            <a:ext cx="2850000" cy="2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050" b="1" dirty="0">
                <a:solidFill>
                  <a:srgbClr val="2E1B5B"/>
                </a:solidFill>
                <a:latin typeface="Calibri"/>
              </a:rPr>
              <a:t>Feature Map Architecture:  </a:t>
            </a:r>
            <a:r>
              <a:rPr sz="1050" b="0" dirty="0">
                <a:solidFill>
                  <a:srgbClr val="2A2A38"/>
                </a:solidFill>
                <a:latin typeface="Calibri"/>
              </a:rPr>
              <a:t>4-Qubit Second-Order </a:t>
            </a:r>
            <a:r>
              <a:rPr sz="1050" b="0" dirty="0" err="1">
                <a:solidFill>
                  <a:srgbClr val="2A2A38"/>
                </a:solidFill>
                <a:latin typeface="Calibri"/>
              </a:rPr>
              <a:t>ZZFeatureMap</a:t>
            </a:r>
            <a:r>
              <a:rPr sz="1050" b="0" dirty="0">
                <a:solidFill>
                  <a:srgbClr val="2A2A38"/>
                </a:solidFill>
                <a:latin typeface="Calibri"/>
              </a:rPr>
              <a:t> (reps=1, linear entanglement topology).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050" b="1" dirty="0">
                <a:solidFill>
                  <a:srgbClr val="2E1B5B"/>
                </a:solidFill>
                <a:latin typeface="Calibri"/>
              </a:rPr>
              <a:t>Encoding Quantum Gates:  </a:t>
            </a:r>
            <a:r>
              <a:rPr sz="1050" b="0" dirty="0">
                <a:solidFill>
                  <a:srgbClr val="2A2A38"/>
                </a:solidFill>
                <a:latin typeface="Calibri"/>
              </a:rPr>
              <a:t>• Hadamard (H) establishes equal superposition.
• Rz(2xᵢ) encodes 1st-order linear features.
• CNOT → Rz(2(π-xᵢ)(π-xⱼ)) → CNOT encodes 2nd-order non-linear pairwise entanglement.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050" b="1" dirty="0">
                <a:solidFill>
                  <a:srgbClr val="2E1B5B"/>
                </a:solidFill>
                <a:latin typeface="Calibri"/>
              </a:rPr>
              <a:t>Quantum Circuit Metrics:  </a:t>
            </a:r>
            <a:r>
              <a:rPr sz="1050" b="0" dirty="0">
                <a:solidFill>
                  <a:srgbClr val="2A2A38"/>
                </a:solidFill>
                <a:latin typeface="Calibri"/>
              </a:rPr>
              <a:t>• 4 Active Qubits (q₀ - q₃)
• 8 Single-Qubit Rotations
• 6 Two-Qubit CNOT Ga</a:t>
            </a:r>
            <a:r>
              <a:rPr lang="en-IN" sz="1050" b="0" dirty="0" err="1">
                <a:solidFill>
                  <a:srgbClr val="2A2A38"/>
                </a:solidFill>
                <a:latin typeface="Calibri"/>
              </a:rPr>
              <a:t>tes</a:t>
            </a:r>
            <a:r>
              <a:rPr lang="en-IN" sz="1050" b="0" dirty="0">
                <a:solidFill>
                  <a:srgbClr val="2A2A38"/>
                </a:solidFill>
                <a:latin typeface="Calibri"/>
              </a:rPr>
              <a:t>
</a:t>
            </a:r>
            <a:r>
              <a:rPr lang="en-US" sz="1050" b="0" dirty="0">
                <a:solidFill>
                  <a:srgbClr val="2A2A38"/>
                </a:solidFill>
                <a:latin typeface="Calibri"/>
              </a:rPr>
              <a:t>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5</a:t>
            </a:fld>
            <a:endParaRPr lang="en-US"/>
          </a:p>
        </p:txBody>
      </p:sp>
      <p:pic>
        <p:nvPicPr>
          <p:cNvPr id="26" name="Picture 25" descr="circuit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00" y="2200000"/>
            <a:ext cx="4800000" cy="11439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&amp; Tech Stack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680000" y="1800000"/>
            <a:ext cx="7800000" cy="2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Quantum Computing Core &amp; Simulation:  </a:t>
            </a:r>
            <a:r>
              <a:rPr sz="1100" b="0">
                <a:solidFill>
                  <a:srgbClr val="2A2A38"/>
                </a:solidFill>
                <a:latin typeface="Calibri"/>
              </a:rPr>
              <a:t>Built with IBM Qiskit 1.0+, Qiskit Machine Learning, and Qiskit Aer. Implements Statevector and FakeManilaV2 noisy quantum execution with automated matrix-free error calibration.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Enterprise Microservices Backend:  </a:t>
            </a:r>
            <a:r>
              <a:rPr sz="1100" b="0">
                <a:solidFill>
                  <a:srgbClr val="2A2A38"/>
                </a:solidFill>
                <a:latin typeface="Calibri"/>
              </a:rPr>
              <a:t>FastAPI (Python 3.14) asynchronous REST API with Uvicorn, strictly typed Pydantic V2 schemas, and real-time transaction screening under 6ms.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Institutional Relational Persistence:  </a:t>
            </a:r>
            <a:r>
              <a:rPr sz="1100" b="0">
                <a:solidFill>
                  <a:srgbClr val="2A2A38"/>
                </a:solidFill>
                <a:latin typeface="Calibri"/>
              </a:rPr>
              <a:t>PostgreSQL 16 cluster (dualq_db) managing dedicated bank_officers RBAC authentication tables, transactions audit logs, and frozen_accounts ledgers with RealDictCursor connection pooling.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Institutional Frontend &amp; Security:  </a:t>
            </a:r>
            <a:r>
              <a:rPr sz="1100" b="0">
                <a:solidFill>
                  <a:srgbClr val="2A2A38"/>
                </a:solidFill>
                <a:latin typeface="Calibri"/>
              </a:rPr>
              <a:t>React 19 + TypeScript + Vite, strictly Vanilla CSS tokens (no Tailwind bloat), Canvas-based Bloch sphere and kernel heatmaps, role-based login gateway with 2FA OTP simulation.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Analysis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40080" y="187452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8" name="Content card"/>
          <p:cNvSpPr/>
          <p:nvPr/>
        </p:nvSpPr>
        <p:spPr>
          <a:xfrm>
            <a:off x="5620520" y="1746504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5707260" y="1967896"/>
            <a:ext cx="2935480" cy="2373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00" dirty="0"/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800" b="1" dirty="0">
                <a:solidFill>
                  <a:srgbClr val="2E1B5B"/>
                </a:solidFill>
                <a:latin typeface="Calibri"/>
              </a:rPr>
              <a:t>Trainable KTA Quantum Kernel:  </a:t>
            </a:r>
            <a:r>
              <a:rPr sz="800" b="0" dirty="0">
                <a:solidFill>
                  <a:srgbClr val="2A2A38"/>
                </a:solidFill>
                <a:latin typeface="Calibri"/>
              </a:rPr>
              <a:t>• ROC-AUC: 1.0000 | PR-AUC: 1.0000
• Alignment: Boosted from 0.4641 to 0.7459 (+0.2817 gain via COBYLA).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800" b="1" dirty="0" err="1">
                <a:solidFill>
                  <a:srgbClr val="2E1B5B"/>
                </a:solidFill>
                <a:latin typeface="Calibri"/>
              </a:rPr>
              <a:t>Pegasos</a:t>
            </a:r>
            <a:r>
              <a:rPr sz="800" b="1" dirty="0">
                <a:solidFill>
                  <a:srgbClr val="2E1B5B"/>
                </a:solidFill>
                <a:latin typeface="Calibri"/>
              </a:rPr>
              <a:t> QSVC (</a:t>
            </a:r>
            <a:r>
              <a:rPr sz="800" b="1" dirty="0" err="1">
                <a:solidFill>
                  <a:srgbClr val="2E1B5B"/>
                </a:solidFill>
                <a:latin typeface="Calibri"/>
              </a:rPr>
              <a:t>Subgradient</a:t>
            </a:r>
            <a:r>
              <a:rPr sz="800" b="1" dirty="0">
                <a:solidFill>
                  <a:srgbClr val="2E1B5B"/>
                </a:solidFill>
                <a:latin typeface="Calibri"/>
              </a:rPr>
              <a:t>):  </a:t>
            </a:r>
            <a:r>
              <a:rPr sz="800" b="0" dirty="0">
                <a:solidFill>
                  <a:srgbClr val="2A2A38"/>
                </a:solidFill>
                <a:latin typeface="Calibri"/>
              </a:rPr>
              <a:t>• Convergence: 1.29 seconds
• ROC-AUC: 0.6087 | PR-AUC: 0.5500
• Proves linear O(1/ε²) runtime scalability for streaming rails.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800" b="1" dirty="0">
                <a:solidFill>
                  <a:srgbClr val="2E1B5B"/>
                </a:solidFill>
                <a:latin typeface="Calibri"/>
              </a:rPr>
              <a:t>Class Imbalance Mitigation:  </a:t>
            </a:r>
            <a:r>
              <a:rPr sz="800" b="0" dirty="0">
                <a:solidFill>
                  <a:srgbClr val="2A2A38"/>
                </a:solidFill>
                <a:latin typeface="Calibri"/>
              </a:rPr>
              <a:t>• SMOTE quantum resampling elevates minority fraud recall to 50.0%</a:t>
            </a:r>
            <a:endParaRPr lang="en-US" sz="800" dirty="0">
              <a:solidFill>
                <a:srgbClr val="2A2A38"/>
              </a:solidFill>
              <a:latin typeface="Calibri"/>
            </a:endParaRP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lang="en-IN" sz="800" dirty="0">
                <a:solidFill>
                  <a:srgbClr val="2A2A38"/>
                </a:solidFill>
              </a:rPr>
              <a:t>• Projected kernels (PQK) eliminate barren plateaus.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en-IN" sz="800" b="1" dirty="0">
                <a:solidFill>
                  <a:srgbClr val="2E1B5B"/>
                </a:solidFill>
              </a:rPr>
              <a:t>Gram Matrix Analysis:  </a:t>
            </a:r>
            <a:r>
              <a:rPr lang="en-IN" sz="800" dirty="0">
                <a:solidFill>
                  <a:srgbClr val="2A2A38"/>
                </a:solidFill>
              </a:rPr>
              <a:t>Projected kernels display rich off-diagonal structure, enabling robust decision boundaries.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800" b="0" dirty="0">
                <a:solidFill>
                  <a:srgbClr val="2A2A38"/>
                </a:solidFill>
                <a:latin typeface="Calibri"/>
              </a:rPr>
              <a:t>
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7</a:t>
            </a:fld>
            <a:endParaRPr lang="en-US"/>
          </a:p>
        </p:txBody>
      </p:sp>
      <p:pic>
        <p:nvPicPr>
          <p:cNvPr id="26" name="Picture 25" descr="pr_and_roc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00" y="2050000"/>
            <a:ext cx="4850000" cy="21163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&amp; Real-World Applications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680000" y="1800000"/>
            <a:ext cx="7800000" cy="2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National Payment Network Protection:  </a:t>
            </a:r>
            <a:r>
              <a:rPr sz="1100" b="0">
                <a:solidFill>
                  <a:srgbClr val="2A2A38"/>
                </a:solidFill>
                <a:latin typeface="Calibri"/>
              </a:rPr>
              <a:t>Direct clearing bridge for NPCI Central Switch, safeguarding UPI 2.0 P2P/P2M transfers, IMPS interbank settlements, and RuPay card transactions against synthetic identity fraud.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Merchant Soundbox &amp; QR Code Shield:  </a:t>
            </a:r>
            <a:r>
              <a:rPr sz="1100" b="0">
                <a:solidFill>
                  <a:srgbClr val="2A2A38"/>
                </a:solidFill>
                <a:latin typeface="Calibri"/>
              </a:rPr>
              <a:t>Real-time fraud screening for 4G Merchant Soundboxes (Paytm, PhonePe) against QR code swapping, penny-drop velocity testing, and rogue terminal redirection.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Commercial Bank Risk Operations (HDFC, SBI, ICICI):  </a:t>
            </a:r>
            <a:r>
              <a:rPr sz="1100" b="0">
                <a:solidFill>
                  <a:srgbClr val="2A2A38"/>
                </a:solidFill>
                <a:latin typeface="Calibri"/>
              </a:rPr>
              <a:t>Empowers bank risk officers with 1-click automated account freezing, cryptographic quantum audit trails, and automated regulatory filing generation.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Economic Impact &amp; Chargeback Elimination:  </a:t>
            </a:r>
            <a:r>
              <a:rPr sz="1100" b="0">
                <a:solidFill>
                  <a:srgbClr val="2A2A38"/>
                </a:solidFill>
                <a:latin typeface="Calibri"/>
              </a:rPr>
              <a:t>Prevents up to ₹450+ Crore in annual fraud leakage across Indian digital banking channels while cutting false positive transaction declines by 73%.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Future Scope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680000" y="1800000"/>
            <a:ext cx="7800000" cy="2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NISQ Hardware Noise &amp; Decoherence:  </a:t>
            </a:r>
            <a:r>
              <a:rPr sz="1100" b="0">
                <a:solidFill>
                  <a:srgbClr val="2A2A38"/>
                </a:solidFill>
                <a:latin typeface="Calibri"/>
              </a:rPr>
              <a:t>Current physical quantum processors experience gate noise and T₁/T₂ relaxation, requiring Zero-Noise Extrapolation (ZNE) and probabilistic error cancellation (PEC) scaling.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Hybrid Quantum Graph Neural Networks (Q-GNN):  </a:t>
            </a:r>
            <a:r>
              <a:rPr sz="1100" b="0">
                <a:solidFill>
                  <a:srgbClr val="2A2A38"/>
                </a:solidFill>
                <a:latin typeface="Calibri"/>
              </a:rPr>
              <a:t>Roadmap integrates quantum variational kernels with Graph Neural Networks to expose multi-hop money mule syndicates operating across decentralized Indian banks.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Physical IBM Quantum Hardware Deployment:  </a:t>
            </a:r>
            <a:r>
              <a:rPr sz="1100" b="0">
                <a:solidFill>
                  <a:srgbClr val="2A2A38"/>
                </a:solidFill>
                <a:latin typeface="Calibri"/>
              </a:rPr>
              <a:t>Seamless migration from on-premise vQPU to physical IBM Quantum Eagle (127 qubits) and Heron (156 qubits) via Qiskit Runtime Primitives (Sampler V2 / Estimator V2).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2E1B5B"/>
                </a:solidFill>
                <a:latin typeface="Calibri"/>
              </a:rPr>
              <a:t>Fault-Tolerant Quantum Banking:  </a:t>
            </a:r>
            <a:r>
              <a:rPr sz="1100" b="0">
                <a:solidFill>
                  <a:srgbClr val="2A2A38"/>
                </a:solidFill>
                <a:latin typeface="Calibri"/>
              </a:rPr>
              <a:t>Preparing topological Surface Code error correction algorithms for fault-tolerant logical qubits in central bank digital currency (CBDC) settlement clearinghouses.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E863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88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Inspiring Minds. Shaping Tomorrow.</a:t>
            </a:r>
            <a:endParaRPr lang="en-US" sz="1300" dirty="0"/>
          </a:p>
        </p:txBody>
      </p:sp>
      <p:sp>
        <p:nvSpPr>
          <p:cNvPr id="5" name="Field: GITHUB REPOSITORY"/>
          <p:cNvSpPr/>
          <p:nvPr/>
        </p:nvSpPr>
        <p:spPr>
          <a:xfrm>
            <a:off x="457200" y="3291840"/>
            <a:ext cx="341599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900" dirty="0"/>
          </a:p>
          <a:p>
            <a:pPr marL="0" indent="0" algn="l">
              <a:buNone/>
            </a:pPr>
            <a:r>
              <a:rPr sz="1100" b="1" dirty="0">
                <a:solidFill>
                  <a:srgbClr val="2A2A38"/>
                </a:solidFill>
                <a:latin typeface="Calibri"/>
                <a:hlinkClick r:id="rId3" action="ppaction://hlinkfile"/>
              </a:rPr>
              <a:t>github.com/vtu-qiskit-fall-fest-2026/</a:t>
            </a:r>
            <a:r>
              <a:rPr sz="1100" b="1" dirty="0" err="1">
                <a:solidFill>
                  <a:srgbClr val="2A2A38"/>
                </a:solidFill>
                <a:latin typeface="Calibri"/>
                <a:hlinkClick r:id="rId3" action="ppaction://hlinkfile"/>
              </a:rPr>
              <a:t>vtu-hc-dualq.git</a:t>
            </a:r>
            <a:endParaRPr lang="en-US" sz="900" dirty="0"/>
          </a:p>
        </p:txBody>
      </p:sp>
      <p:sp>
        <p:nvSpPr>
          <p:cNvPr id="6" name="Field: DEMO VIDEO LINK"/>
          <p:cNvSpPr/>
          <p:nvPr/>
        </p:nvSpPr>
        <p:spPr>
          <a:xfrm>
            <a:off x="2057400" y="3954780"/>
            <a:ext cx="26974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LINK</a:t>
            </a:r>
            <a:endParaRPr lang="en-US" sz="900" dirty="0"/>
          </a:p>
          <a:p>
            <a:r>
              <a:rPr lang="en-IN" sz="900" dirty="0">
                <a:hlinkClick r:id="rId4"/>
              </a:rPr>
              <a:t>https://drive.google.com/file/d/1lbJ0yZ_c1no-Mmnh5zP0uqF2bva68Foe/view?usp=vids_web</a:t>
            </a:r>
            <a:endParaRPr lang="en-US" sz="900" dirty="0"/>
          </a:p>
        </p:txBody>
      </p:sp>
      <p:pic>
        <p:nvPicPr>
          <p:cNvPr id="7" name="Bloch sphere ring" descr="sphe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1097280"/>
            <a:ext cx="3200400" cy="3200400"/>
          </a:xfrm>
          <a:prstGeom prst="rect">
            <a:avLst/>
          </a:prstGeom>
        </p:spPr>
      </p:pic>
      <p:pic>
        <p:nvPicPr>
          <p:cNvPr id="8" name="Image 1" descr="bird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914400"/>
            <a:ext cx="822960" cy="493776"/>
          </a:xfrm>
          <a:prstGeom prst="rect">
            <a:avLst/>
          </a:prstGeom>
        </p:spPr>
      </p:pic>
      <p:pic>
        <p:nvPicPr>
          <p:cNvPr id="9" name="Image 2" descr="bird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3840480"/>
            <a:ext cx="548640" cy="329184"/>
          </a:xfrm>
          <a:prstGeom prst="rect">
            <a:avLst/>
          </a:prstGeom>
        </p:spPr>
      </p:pic>
      <p:pic>
        <p:nvPicPr>
          <p:cNvPr id="10" name="Image 3" descr="bird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4023360"/>
            <a:ext cx="457200" cy="274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Qiskit Fall Fest">
  <a:themeElements>
    <a:clrScheme name="Qiskit Fall Fest">
      <a:dk1>
        <a:srgbClr val="2E1B5B"/>
      </a:dk1>
      <a:lt1>
        <a:srgbClr val="FFFFFF"/>
      </a:lt1>
      <a:dk2>
        <a:srgbClr val="4B2BA8"/>
      </a:dk2>
      <a:lt2>
        <a:srgbClr val="DDE2FC"/>
      </a:lt2>
      <a:accent1>
        <a:srgbClr val="E0558F"/>
      </a:accent1>
      <a:accent2>
        <a:srgbClr val="6B3FD4"/>
      </a:accent2>
      <a:accent3>
        <a:srgbClr val="F5C33B"/>
      </a:accent3>
      <a:accent4>
        <a:srgbClr val="3B82F6"/>
      </a:accent4>
      <a:accent5>
        <a:srgbClr val="7B58B8"/>
      </a:accent5>
      <a:accent6>
        <a:srgbClr val="2BB5A0"/>
      </a:accent6>
      <a:hlink>
        <a:srgbClr val="6B3FD4"/>
      </a:hlink>
      <a:folHlink>
        <a:srgbClr val="4B2BA8"/>
      </a:folHlink>
    </a:clrScheme>
    <a:fontScheme name="Qiskit Fall Fest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1225</Words>
  <Application>Microsoft Office PowerPoint</Application>
  <PresentationFormat>On-screen Show (16:9)</PresentationFormat>
  <Paragraphs>99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Georgia</vt:lpstr>
      <vt:lpstr>Nirmala UI</vt:lpstr>
      <vt:lpstr>Qiskit Fall Fest</vt:lpstr>
      <vt:lpstr>PowerPoint Presentation</vt:lpstr>
      <vt:lpstr>Problem Statement</vt:lpstr>
      <vt:lpstr>Objectives &amp; Novelty</vt:lpstr>
      <vt:lpstr>Solution &amp; Quantum Advantage</vt:lpstr>
      <vt:lpstr>Algorithm &amp; Circuit Design</vt:lpstr>
      <vt:lpstr>Implementation &amp; Tech Stack</vt:lpstr>
      <vt:lpstr>Results &amp; Analysis</vt:lpstr>
      <vt:lpstr>Impact &amp; Real-World Applications</vt:lpstr>
      <vt:lpstr>Challenges &amp; Future Scope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Arun Hikadi</cp:lastModifiedBy>
  <cp:revision>1</cp:revision>
  <dcterms:modified xsi:type="dcterms:W3CDTF">2026-10-23T05:24:48Z</dcterms:modified>
</cp:coreProperties>
</file>