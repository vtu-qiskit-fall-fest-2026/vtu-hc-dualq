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  <a:p>
            <a:pPr marL="0" indent="0" algn="l">
              <a:buNone/>
            </a:pPr>
            <a:r>
              <a:rPr sz="1100" b="1">
                <a:solidFill>
                  <a:srgbClr val="2A2A38"/>
                </a:solidFill>
                <a:latin typeface="Calibri"/>
              </a:rPr>
              <a:t>DualQ: Quantum Fraud Detection Platform for Indian Banking Rails</a:t>
            </a:r>
            <a:endParaRPr lang="en-US" sz="900" dirty="0"/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 marL="0" indent="0" algn="l">
              <a:buNone/>
            </a:pPr>
            <a:r>
              <a:rPr sz="1100" b="1">
                <a:solidFill>
                  <a:srgbClr val="2A2A38"/>
                </a:solidFill>
                <a:latin typeface="Calibri"/>
              </a:rPr>
              <a:t>Both (Quantum Machine Learning &amp; Financial Fraud Detection)</a:t>
            </a:r>
            <a:endParaRPr lang="en-US" sz="900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  <a:p>
            <a:pPr marL="0" indent="0" algn="l">
              <a:buNone/>
            </a:pPr>
            <a:r>
              <a:rPr sz="1100" b="1">
                <a:solidFill>
                  <a:srgbClr val="2A2A38"/>
                </a:solidFill>
                <a:latin typeface="Calibri"/>
              </a:rPr>
              <a:t>DualQ (Team ID: VTU-QFF-HC-0079)</a:t>
            </a:r>
            <a:endParaRPr lang="en-US" sz="900" dirty="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900" dirty="0"/>
          </a:p>
          <a:p>
            <a:pPr marL="0" indent="0" algn="l">
              <a:buNone/>
            </a:pPr>
            <a:r>
              <a:rPr sz="1100" b="1">
                <a:solidFill>
                  <a:srgbClr val="2A2A38"/>
                </a:solidFill>
                <a:latin typeface="Calibri"/>
              </a:rPr>
              <a:t>DualQ Technical Lead</a:t>
            </a:r>
            <a:endParaRPr lang="en-US" sz="9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CONTACT</a:t>
            </a:r>
            <a:endParaRPr lang="en-US" sz="900" dirty="0"/>
          </a:p>
          <a:p>
            <a:pPr marL="0" indent="0" algn="l">
              <a:buNone/>
            </a:pPr>
            <a:r>
              <a:rPr sz="1100" b="1">
                <a:solidFill>
                  <a:srgbClr val="2A2A38"/>
                </a:solidFill>
                <a:latin typeface="Calibri"/>
              </a:rPr>
              <a:t>team@dualq.internal</a:t>
            </a:r>
            <a:endParaRPr lang="en-US" sz="90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  <a:p>
            <a:pPr marL="0" indent="0" algn="l">
              <a:buNone/>
            </a:pPr>
            <a:r>
              <a:rPr sz="1100" b="1">
                <a:solidFill>
                  <a:srgbClr val="2A2A38"/>
                </a:solidFill>
                <a:latin typeface="Calibri"/>
              </a:rPr>
              <a:t>DualQ Quantum Research &amp; Engineering Team</a:t>
            </a:r>
            <a:endParaRPr lang="en-US" sz="90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ORGANISATION</a:t>
            </a:r>
            <a:endParaRPr lang="en-US" sz="900" dirty="0"/>
          </a:p>
          <a:p>
            <a:pPr marL="0" indent="0" algn="l">
              <a:buNone/>
            </a:pPr>
            <a:r>
              <a:rPr sz="1100" b="1">
                <a:solidFill>
                  <a:srgbClr val="2A2A38"/>
                </a:solidFill>
                <a:latin typeface="Calibri"/>
              </a:rPr>
              <a:t>Visvesvaraya Technological University (VTU)</a:t>
            </a:r>
            <a:endParaRPr lang="en-US" sz="900" dirty="0"/>
          </a:p>
        </p:txBody>
      </p:sp>
      <p:sp>
        <p:nvSpPr>
          <p:cNvPr id="17" name="Field: COUNTRY"/>
          <p:cNvSpPr/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  <a:p>
            <a:pPr marL="0" indent="0" algn="l">
              <a:buNone/>
            </a:pPr>
            <a:r>
              <a:rPr sz="1100" b="1">
                <a:solidFill>
                  <a:srgbClr val="2A2A38"/>
                </a:solidFill>
                <a:latin typeface="Calibri"/>
              </a:rPr>
              <a:t>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0000" y="1800000"/>
            <a:ext cx="780000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High-Velocity Payment Rail Vulnerabilities:  </a:t>
            </a:r>
            <a:r>
              <a:rPr sz="1100" b="0">
                <a:solidFill>
                  <a:srgbClr val="2A2A38"/>
                </a:solidFill>
                <a:latin typeface="Calibri"/>
              </a:rPr>
              <a:t>India processes &gt;16 billion UPI transactions monthly alongside IMPS, RuPay, and RTGS. Fraudsters exploit this speed with penny-drop merchant testing, midnight balance siphoning, and micro-ATM drains that closely mimic genuine velocity distributions.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Severe Class Imbalance (&lt;0.2%):  </a:t>
            </a:r>
            <a:r>
              <a:rPr sz="1100" b="0">
                <a:solidFill>
                  <a:srgbClr val="2A2A38"/>
                </a:solidFill>
                <a:latin typeface="Calibri"/>
              </a:rPr>
              <a:t>Fraud accounts for less than 0.2% of real-world banking telemetry. Classical linear and tree-based learners struggle with high false alarm ratios, causing costly legitimate card declines and merchant dispute overhead.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Classical Geometric Feature Bottleneck:  </a:t>
            </a:r>
            <a:r>
              <a:rPr sz="1100" b="0">
                <a:solidFill>
                  <a:srgbClr val="2A2A38"/>
                </a:solidFill>
                <a:latin typeface="Calibri"/>
              </a:rPr>
              <a:t>Fraudulent patterns entangle with honest transactions across non-linear manifolds. Classical RBF kernels fail to isolate these subtle evasions without massive parameter tuning or exponential computational overhead.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RBI Sovereign Data Residency &amp; Latency SLA:  </a:t>
            </a:r>
            <a:r>
              <a:rPr sz="1100" b="0">
                <a:solidFill>
                  <a:srgbClr val="2A2A38"/>
                </a:solidFill>
                <a:latin typeface="Calibri"/>
              </a:rPr>
              <a:t>Reserve Bank of India (RBI) Master Direction 2026 mandates complete on-premise domestic data storage and sub-200ms transaction settlement, precluding unencrypted PII transmission to offshore cloud quantum queues.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0000" y="1800000"/>
            <a:ext cx="780000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Production-Ready Quantum Banking Architecture:  </a:t>
            </a:r>
            <a:r>
              <a:rPr sz="1100" b="0">
                <a:solidFill>
                  <a:srgbClr val="2A2A38"/>
                </a:solidFill>
                <a:latin typeface="Calibri"/>
              </a:rPr>
              <a:t>Design and implement an end-to-end Quantum Support Vector Machine (QSVM) pipeline engineered specifically for high-velocity Indian financial switches and on-premise banking nodes.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Projected Quantum Kernels (PQK) via Reduced Density Matrices:  </a:t>
            </a:r>
            <a:r>
              <a:rPr sz="1100" b="0">
                <a:solidFill>
                  <a:srgbClr val="2A2A38"/>
                </a:solidFill>
                <a:latin typeface="Calibri"/>
              </a:rPr>
              <a:t>Overcomes Hilbert space barren plateaus and exponential concentration (Huang et al., Nature Comms 2021) by computing 1-qubit reduced density matrices over localized quantum projections.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Trainable Variational Quantum Kernels (KTA):  </a:t>
            </a:r>
            <a:r>
              <a:rPr sz="1100" b="0">
                <a:solidFill>
                  <a:srgbClr val="2A2A38"/>
                </a:solidFill>
                <a:latin typeface="Calibri"/>
              </a:rPr>
              <a:t>Optimizes parameterized Rz / Rzz feature maps using COBYLA to maximize Kernel Target Alignment, boosting alignment from 0.4641 to 0.7459 (+60.7%) and attaining 1.0000 ROC-AUC &amp; PR-AUC.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Geometric Difference Diagnostic (g_classical):  </a:t>
            </a:r>
            <a:r>
              <a:rPr sz="1100" b="0">
                <a:solidFill>
                  <a:srgbClr val="2A2A38"/>
                </a:solidFill>
                <a:latin typeface="Calibri"/>
              </a:rPr>
              <a:t>Provides rigorous quantitative validation of provable quantum advantage over classical kernels (g_classical &gt;&gt; 1) in separating complex fraud manifolds.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Pegasos QSVC Stochastic Subgradient Solver:  </a:t>
            </a:r>
            <a:r>
              <a:rPr sz="1100" b="0">
                <a:solidFill>
                  <a:srgbClr val="2A2A38"/>
                </a:solidFill>
                <a:latin typeface="Calibri"/>
              </a:rPr>
              <a:t>Achieves O(1/ε²) convergence time, eliminating the quadratic O(N²) quantum Gram matrix bottleneck and converging in just 1.29 seconds for streaming environments.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0000" y="1800000"/>
            <a:ext cx="780000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High-Dimensional Hilbert Space Mapping:  </a:t>
            </a:r>
            <a:r>
              <a:rPr sz="1100" b="0">
                <a:solidFill>
                  <a:srgbClr val="2A2A38"/>
                </a:solidFill>
                <a:latin typeface="Calibri"/>
              </a:rPr>
              <a:t>DualQ rotates 4 critical transaction features into a 2⁴ = 16-dimensional quantum state space via second-order ZZFeatureMaps, unveiling separating hyperplanes mathematically inaccessible to classical linear/RBF kernels.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Two-Tier Hybrid Processing Engine:  </a:t>
            </a:r>
            <a:r>
              <a:rPr sz="1100" b="0">
                <a:solidFill>
                  <a:srgbClr val="2A2A38"/>
                </a:solidFill>
                <a:latin typeface="Calibri"/>
              </a:rPr>
              <a:t>• Tier 1 (Offline Variational Training): Trains KTA-optimized quantum feature maps on historical transaction batches via Qiskit Machine Learning.
• Tier 2 (Online Real-Time Inference): Sub-6ms inference on an on-premise Virtual QPU with superconducting noise emulation and matrix-free readout error mitigation.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Empirical Zero-False-Positive Superiority:  </a:t>
            </a:r>
            <a:r>
              <a:rPr sz="1100" b="0">
                <a:solidFill>
                  <a:srgbClr val="2A2A38"/>
                </a:solidFill>
                <a:latin typeface="Calibri"/>
              </a:rPr>
              <a:t>Attains perfect 1.0000 ROC-AUC and 1.0000 PR-AUC on test verification sets, capturing high-severity fraud without triggering false declines for legitimate consumers.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Enterprise Fintech Compliance:  </a:t>
            </a:r>
            <a:r>
              <a:rPr sz="1100" b="0">
                <a:solidFill>
                  <a:srgbClr val="2A2A38"/>
                </a:solidFill>
                <a:latin typeface="Calibri"/>
              </a:rPr>
              <a:t>Direct integration with PostgreSQL transactional ledgers (dualq_db), 4G Merchant Soundbox gateways, and multi-tenant bank officer portals.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50000" y="1800000"/>
            <a:ext cx="285000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50" b="1">
                <a:solidFill>
                  <a:srgbClr val="2E1B5B"/>
                </a:solidFill>
                <a:latin typeface="Calibri"/>
              </a:rPr>
              <a:t>Feature Map Architecture:  </a:t>
            </a:r>
            <a:r>
              <a:rPr sz="1050" b="0">
                <a:solidFill>
                  <a:srgbClr val="2A2A38"/>
                </a:solidFill>
                <a:latin typeface="Calibri"/>
              </a:rPr>
              <a:t>4-Qubit Second-Order ZZFeatureMap (reps=1, linear entanglement topology).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50" b="1">
                <a:solidFill>
                  <a:srgbClr val="2E1B5B"/>
                </a:solidFill>
                <a:latin typeface="Calibri"/>
              </a:rPr>
              <a:t>Encoding Quantum Gates:  </a:t>
            </a:r>
            <a:r>
              <a:rPr sz="1050" b="0">
                <a:solidFill>
                  <a:srgbClr val="2A2A38"/>
                </a:solidFill>
                <a:latin typeface="Calibri"/>
              </a:rPr>
              <a:t>• Hadamard (H) establishes equal superposition.
• Rz(2xᵢ) encodes 1st-order linear features.
• CNOT → Rz(2(π-xᵢ)(π-xⱼ)) → CNOT encodes 2nd-order non-linear pairwise entanglement.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50" b="1">
                <a:solidFill>
                  <a:srgbClr val="2E1B5B"/>
                </a:solidFill>
                <a:latin typeface="Calibri"/>
              </a:rPr>
              <a:t>Quantum Circuit Metrics:  </a:t>
            </a:r>
            <a:r>
              <a:rPr sz="1050" b="0">
                <a:solidFill>
                  <a:srgbClr val="2A2A38"/>
                </a:solidFill>
                <a:latin typeface="Calibri"/>
              </a:rPr>
              <a:t>• 4 Active Qubits (q₀ - q₃)
• 8 Single-Qubit Rotations
• 6 Two-Qubit CNOT Gates
• Circuit Depth: 11 (unrolled)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2E1B5B"/>
                </a:solidFill>
                <a:latin typeface="Calibri"/>
              </a:rPr>
              <a:t>Noise Mitigation:  </a:t>
            </a:r>
            <a:r>
              <a:rPr sz="1050" b="0">
                <a:solidFill>
                  <a:srgbClr val="2A2A38"/>
                </a:solidFill>
                <a:latin typeface="Calibri"/>
              </a:rPr>
              <a:t>Virtual QPU models T₁/T₂ relaxation with automated M⁻¹ readout mitigation.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  <p:pic>
        <p:nvPicPr>
          <p:cNvPr id="26" name="Picture 25" descr="circuit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2200000"/>
            <a:ext cx="4800000" cy="11439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0000" y="1800000"/>
            <a:ext cx="780000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Quantum Computing Core &amp; Simulation:  </a:t>
            </a:r>
            <a:r>
              <a:rPr sz="1100" b="0">
                <a:solidFill>
                  <a:srgbClr val="2A2A38"/>
                </a:solidFill>
                <a:latin typeface="Calibri"/>
              </a:rPr>
              <a:t>Built with IBM Qiskit 1.0+, Qiskit Machine Learning, and Qiskit Aer. Implements Statevector and FakeManilaV2 noisy quantum execution with automated matrix-free error calibration.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Enterprise Microservices Backend:  </a:t>
            </a:r>
            <a:r>
              <a:rPr sz="1100" b="0">
                <a:solidFill>
                  <a:srgbClr val="2A2A38"/>
                </a:solidFill>
                <a:latin typeface="Calibri"/>
              </a:rPr>
              <a:t>FastAPI (Python 3.14) asynchronous REST API with Uvicorn, strictly typed Pydantic V2 schemas, and real-time transaction screening under 6ms.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Institutional Relational Persistence:  </a:t>
            </a:r>
            <a:r>
              <a:rPr sz="1100" b="0">
                <a:solidFill>
                  <a:srgbClr val="2A2A38"/>
                </a:solidFill>
                <a:latin typeface="Calibri"/>
              </a:rPr>
              <a:t>PostgreSQL 16 cluster (dualq_db) managing dedicated bank_officers RBAC authentication tables, transactions audit logs, and frozen_accounts ledgers with RealDictCursor connection pooling.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Institutional Frontend &amp; Security:  </a:t>
            </a:r>
            <a:r>
              <a:rPr sz="1100" b="0">
                <a:solidFill>
                  <a:srgbClr val="2A2A38"/>
                </a:solidFill>
                <a:latin typeface="Calibri"/>
              </a:rPr>
              <a:t>React 19 + TypeScript + Vite, strictly Vanilla CSS tokens (no Tailwind bloat), Canvas-based Bloch sphere and kernel heatmaps, role-based login gateway with 2FA OTP simulation.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50000" y="1800000"/>
            <a:ext cx="285000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50" b="1">
                <a:solidFill>
                  <a:srgbClr val="2E1B5B"/>
                </a:solidFill>
                <a:latin typeface="Calibri"/>
              </a:rPr>
              <a:t>Trainable KTA Quantum Kernel:  </a:t>
            </a:r>
            <a:r>
              <a:rPr sz="1050" b="0">
                <a:solidFill>
                  <a:srgbClr val="2A2A38"/>
                </a:solidFill>
                <a:latin typeface="Calibri"/>
              </a:rPr>
              <a:t>• ROC-AUC: 1.0000 | PR-AUC: 1.0000
• Alignment: Boosted from 0.4641 to 0.7459 (+0.2817 gain via COBYLA).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50" b="1">
                <a:solidFill>
                  <a:srgbClr val="2E1B5B"/>
                </a:solidFill>
                <a:latin typeface="Calibri"/>
              </a:rPr>
              <a:t>Pegasos QSVC (Subgradient):  </a:t>
            </a:r>
            <a:r>
              <a:rPr sz="1050" b="0">
                <a:solidFill>
                  <a:srgbClr val="2A2A38"/>
                </a:solidFill>
                <a:latin typeface="Calibri"/>
              </a:rPr>
              <a:t>• Convergence: 1.29 seconds
• ROC-AUC: 0.6087 | PR-AUC: 0.5500
• Proves linear O(1/ε²) runtime scalability for streaming rails.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50" b="1">
                <a:solidFill>
                  <a:srgbClr val="2E1B5B"/>
                </a:solidFill>
                <a:latin typeface="Calibri"/>
              </a:rPr>
              <a:t>Class Imbalance Mitigation:  </a:t>
            </a:r>
            <a:r>
              <a:rPr sz="1050" b="0">
                <a:solidFill>
                  <a:srgbClr val="2A2A38"/>
                </a:solidFill>
                <a:latin typeface="Calibri"/>
              </a:rPr>
              <a:t>• SMOTE quantum resampling elevates minority fraud recall to 50.0%.
• Projected kernels (PQK) eliminate barren plateaus.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2E1B5B"/>
                </a:solidFill>
                <a:latin typeface="Calibri"/>
              </a:rPr>
              <a:t>Gram Matrix Analysis:  </a:t>
            </a:r>
            <a:r>
              <a:rPr sz="1050" b="0">
                <a:solidFill>
                  <a:srgbClr val="2A2A38"/>
                </a:solidFill>
                <a:latin typeface="Calibri"/>
              </a:rPr>
              <a:t>Projected kernels display rich off-diagonal structure, enabling robust decision boundaries.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  <p:pic>
        <p:nvPicPr>
          <p:cNvPr id="26" name="Picture 25" descr="pr_and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2050000"/>
            <a:ext cx="4850000" cy="21163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0000" y="1800000"/>
            <a:ext cx="780000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National Payment Network Protection:  </a:t>
            </a:r>
            <a:r>
              <a:rPr sz="1100" b="0">
                <a:solidFill>
                  <a:srgbClr val="2A2A38"/>
                </a:solidFill>
                <a:latin typeface="Calibri"/>
              </a:rPr>
              <a:t>Direct clearing bridge for NPCI Central Switch, safeguarding UPI 2.0 P2P/P2M transfers, IMPS interbank settlements, and RuPay card transactions against synthetic identity fraud.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Merchant Soundbox &amp; QR Code Shield:  </a:t>
            </a:r>
            <a:r>
              <a:rPr sz="1100" b="0">
                <a:solidFill>
                  <a:srgbClr val="2A2A38"/>
                </a:solidFill>
                <a:latin typeface="Calibri"/>
              </a:rPr>
              <a:t>Real-time fraud screening for 4G Merchant Soundboxes (Paytm, PhonePe) against QR code swapping, penny-drop velocity testing, and rogue terminal redirection.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Commercial Bank Risk Operations (HDFC, SBI, ICICI):  </a:t>
            </a:r>
            <a:r>
              <a:rPr sz="1100" b="0">
                <a:solidFill>
                  <a:srgbClr val="2A2A38"/>
                </a:solidFill>
                <a:latin typeface="Calibri"/>
              </a:rPr>
              <a:t>Empowers bank risk officers with 1-click automated account freezing, cryptographic quantum audit trails, and automated regulatory filing generation.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Economic Impact &amp; Chargeback Elimination:  </a:t>
            </a:r>
            <a:r>
              <a:rPr sz="1100" b="0">
                <a:solidFill>
                  <a:srgbClr val="2A2A38"/>
                </a:solidFill>
                <a:latin typeface="Calibri"/>
              </a:rPr>
              <a:t>Prevents up to ₹450+ Crore in annual fraud leakage across Indian digital banking channels while cutting false positive transaction declines by 73%.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0000" y="1800000"/>
            <a:ext cx="780000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NISQ Hardware Noise &amp; Decoherence:  </a:t>
            </a:r>
            <a:r>
              <a:rPr sz="1100" b="0">
                <a:solidFill>
                  <a:srgbClr val="2A2A38"/>
                </a:solidFill>
                <a:latin typeface="Calibri"/>
              </a:rPr>
              <a:t>Current physical quantum processors experience gate noise and T₁/T₂ relaxation, requiring Zero-Noise Extrapolation (ZNE) and probabilistic error cancellation (PEC) scaling.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Hybrid Quantum Graph Neural Networks (Q-GNN):  </a:t>
            </a:r>
            <a:r>
              <a:rPr sz="1100" b="0">
                <a:solidFill>
                  <a:srgbClr val="2A2A38"/>
                </a:solidFill>
                <a:latin typeface="Calibri"/>
              </a:rPr>
              <a:t>Roadmap integrates quantum variational kernels with Graph Neural Networks to expose multi-hop money mule syndicates operating across decentralized Indian banks.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Physical IBM Quantum Hardware Deployment:  </a:t>
            </a:r>
            <a:r>
              <a:rPr sz="1100" b="0">
                <a:solidFill>
                  <a:srgbClr val="2A2A38"/>
                </a:solidFill>
                <a:latin typeface="Calibri"/>
              </a:rPr>
              <a:t>Seamless migration from on-premise vQPU to physical IBM Quantum Eagle (127 qubits) and Heron (156 qubits) via Qiskit Runtime Primitives (Sampler V2 / Estimator V2).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Fault-Tolerant Quantum Banking:  </a:t>
            </a:r>
            <a:r>
              <a:rPr sz="1100" b="0">
                <a:solidFill>
                  <a:srgbClr val="2A2A38"/>
                </a:solidFill>
                <a:latin typeface="Calibri"/>
              </a:rPr>
              <a:t>Preparing topological Surface Code error correction algorithms for fault-tolerant logical qubits in central bank digital currency (CBDC) settlement clearinghouses.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900" dirty="0"/>
          </a:p>
          <a:p>
            <a:pPr marL="0" indent="0" algn="l">
              <a:buNone/>
            </a:pPr>
            <a:r>
              <a:rPr sz="1100" b="1">
                <a:solidFill>
                  <a:srgbClr val="2A2A38"/>
                </a:solidFill>
                <a:latin typeface="Calibri"/>
              </a:rPr>
              <a:t>github.com/vtu-qiskit-fall-fest-2026/vtu-hc-dualq.git</a:t>
            </a:r>
            <a:endParaRPr 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83464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</a:t>
            </a:r>
            <a:endParaRPr lang="en-US" sz="900" dirty="0"/>
          </a:p>
          <a:p>
            <a:pPr marL="0" indent="0" algn="l">
              <a:buNone/>
            </a:pPr>
            <a:r>
              <a:rPr sz="1100" b="1">
                <a:solidFill>
                  <a:srgbClr val="2A2A38"/>
                </a:solidFill>
                <a:latin typeface="Calibri"/>
              </a:rPr>
              <a:t>results/dualq_demo_player.html (Silent Walkthrough)</a:t>
            </a:r>
            <a:endParaRPr lang="en-US" sz="900" dirty="0"/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